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Inter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gVblouj34MtvKQ31y1x4qcS0ab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F10DF6A-A7F4-4E26-9201-E8BA268FE684}">
  <a:tblStyle styleId="{2F10DF6A-A7F4-4E26-9201-E8BA268FE684}" styleName="Table_0">
    <a:wholeTbl>
      <a:tcTxStyle b="off" i="off">
        <a:font>
          <a:latin typeface="Arial"/>
          <a:ea typeface="Arial"/>
          <a:cs typeface="Arial"/>
        </a:font>
        <a:schemeClr val="lt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wholeTbl>
    <a:band1H>
      <a:tcTxStyle/>
      <a:tcStyle>
        <a:fill>
          <a:solidFill>
            <a:srgbClr val="3E6695"/>
          </a:solidFill>
        </a:fill>
      </a:tcStyle>
    </a:band1H>
    <a:band2H>
      <a:tcTxStyle/>
    </a:band2H>
    <a:band1V>
      <a:tcTxStyle/>
      <a:tcStyle>
        <a:fill>
          <a:solidFill>
            <a:srgbClr val="3E6695"/>
          </a:solidFill>
        </a:fill>
      </a:tcStyle>
    </a:band1V>
    <a:band2V>
      <a:tcTxStyle/>
    </a:band2V>
    <a:lastCol>
      <a:tcTxStyle b="on" i="off"/>
      <a:tcStyle>
        <a:tcBdr>
          <a:left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</a:tcBdr>
        <a:fill>
          <a:solidFill>
            <a:srgbClr val="3E6695"/>
          </a:solidFill>
        </a:fill>
      </a:tcStyle>
    </a:lastCol>
    <a:firstCol>
      <a:tcTxStyle b="on" i="off"/>
      <a:tcStyle>
        <a:tcBdr>
          <a:right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</a:tcBdr>
        <a:fill>
          <a:solidFill>
            <a:srgbClr val="3E6695"/>
          </a:solidFill>
        </a:fill>
      </a:tcStyle>
    </a:firstCol>
    <a:lastRow>
      <a:tcTxStyle b="on" i="off"/>
      <a:tcStyle>
        <a:tcBdr>
          <a:top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34557C"/>
          </a:solidFill>
        </a:fill>
      </a:tcStyle>
    </a:lastRow>
    <a:seCell>
      <a:tcTxStyle/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</a:tcBdr>
      </a:tcStyle>
    </a:seCell>
    <a:swCell>
      <a:tcTxStyle/>
      <a:tcStyle>
        <a:tcBdr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swCell>
    <a:firstRow>
      <a:tcTxStyle b="on" i="off"/>
      <a:tcStyle>
        <a:tcBdr>
          <a:bottom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</a:tcBdr>
      </a:tcStyle>
    </a:neCell>
    <a:nwCell>
      <a:tcTxStyle/>
      <a:tcStyle>
        <a:tcBdr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nwCell>
  </a:tblStyle>
  <a:tblStyle styleId="{9106C17B-7FB5-43C3-9ED7-E08E2A2C6245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6" name="Google Shape;236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8" name="Google Shape;268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9" name="Google Shape;279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18.png"/><Relationship Id="rId6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28.png"/><Relationship Id="rId9" Type="http://schemas.openxmlformats.org/officeDocument/2006/relationships/image" Target="../media/image29.png"/><Relationship Id="rId5" Type="http://schemas.openxmlformats.org/officeDocument/2006/relationships/image" Target="../media/image15.png"/><Relationship Id="rId6" Type="http://schemas.openxmlformats.org/officeDocument/2006/relationships/image" Target="../media/image34.png"/><Relationship Id="rId7" Type="http://schemas.openxmlformats.org/officeDocument/2006/relationships/image" Target="../media/image31.png"/><Relationship Id="rId8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Relationship Id="rId5" Type="http://schemas.openxmlformats.org/officeDocument/2006/relationships/image" Target="../media/image7.png"/><Relationship Id="rId6" Type="http://schemas.openxmlformats.org/officeDocument/2006/relationships/image" Target="../media/image33.png"/><Relationship Id="rId7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35.png"/><Relationship Id="rId5" Type="http://schemas.openxmlformats.org/officeDocument/2006/relationships/image" Target="../media/image21.png"/><Relationship Id="rId6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Relationship Id="rId4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Relationship Id="rId5" Type="http://schemas.openxmlformats.org/officeDocument/2006/relationships/image" Target="../media/image27.png"/><Relationship Id="rId6" Type="http://schemas.openxmlformats.org/officeDocument/2006/relationships/image" Target="../media/image30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485775" y="1482179"/>
            <a:ext cx="112204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ТЕХНИЧЕСКИЙ ПРОЕКТ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42887" y="1821209"/>
            <a:ext cx="11706225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Разработка интеллектуальной системы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«Подбор фильма по интересам»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485775" y="3185070"/>
            <a:ext cx="11220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 использованием возможностей машинного обучения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485775" y="5131891"/>
            <a:ext cx="112204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Москва, 2025-2026 год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485775" y="3840360"/>
            <a:ext cx="11220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Выполнил: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Краснобрыж Платон Валерьевич, 10Д класс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485775" y="4286101"/>
            <a:ext cx="1122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Руководитель: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Чарная Ольга Михайловна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481137"/>
            <a:ext cx="53721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"/>
          <p:cNvSpPr txBox="1"/>
          <p:nvPr/>
        </p:nvSpPr>
        <p:spPr>
          <a:xfrm>
            <a:off x="676275" y="485775"/>
            <a:ext cx="115157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Актуальность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485775" y="485775"/>
            <a:ext cx="47625" cy="4857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485775" y="1717476"/>
            <a:ext cx="537210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Современная цифровая среда перенасыщена контентом, что порождает проблему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«паралича выбора»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когда время поиска превышает время просмотра. Существующие коммерческие системы работают по принципу «черного ящика», продвигая маркетинговые интересы платформ.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485775" y="3260377"/>
            <a:ext cx="53721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Необходимость в создании прозрачного и математически обоснованного инструмента на базе машинного обучения определяет актуальность данной работы.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01" name="Google Shape;10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490662"/>
            <a:ext cx="5353050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/>
          <p:nvPr/>
        </p:nvSpPr>
        <p:spPr>
          <a:xfrm>
            <a:off x="771525" y="4368998"/>
            <a:ext cx="5086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Исключение субъективности и рекламных искажений.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771525" y="4786163"/>
            <a:ext cx="50863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Автоматизация поиска на основе объективной схожести предпочтений.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771525" y="5477619"/>
            <a:ext cx="50863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Доступный инструмент для персонализированной фильтрации данных.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05" name="Google Shape;10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1000" y="4399126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1012" y="4786172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0999" y="5477625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485775"/>
            <a:ext cx="5372100" cy="260017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 txBox="1"/>
          <p:nvPr/>
        </p:nvSpPr>
        <p:spPr>
          <a:xfrm>
            <a:off x="781050" y="781050"/>
            <a:ext cx="502062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Цель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781050" y="1247775"/>
            <a:ext cx="4781550" cy="24891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Разработка интеллектуальной программной системы на языке Python для автоматизированного подбора фильмов на основе векторизации признаков и алгоритма k-ближайших соседей (KNN) с последующей ранжированной фильтрацией по рейтингу.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None/>
            </a:pPr>
            <a:b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</a:br>
            <a:endParaRPr b="0" i="0" sz="1350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6334125" y="485775"/>
            <a:ext cx="564070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Задачи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6619875" y="952500"/>
            <a:ext cx="5086350" cy="10233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Провести сбор и предварительную обработку данных (Data Preprocessing) датасета IMDb, включая очистку от шумов и восстановление пропусков.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6619875" y="1623951"/>
            <a:ext cx="5086350" cy="10233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Осуществить кодирование категориальных признаков методом One-Hot Encoding и масштабирование числовых переменных.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6611302" y="2384652"/>
            <a:ext cx="5086350" cy="62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Реализовать и протестировать три математические модели поиска соседей, использующие метрики Cosine, Euclidean и Manhattan.</a:t>
            </a:r>
            <a:endParaRPr b="0" i="0" sz="1350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6611302" y="3118431"/>
            <a:ext cx="5086350" cy="62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Спроектировать гибридный алгоритм выдачи результатов, сочетающий поиск по дистанции признаков и сортировку по зрительскому рейтингу.</a:t>
            </a:r>
            <a:endParaRPr b="0" i="0" sz="1350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6611302" y="3962742"/>
            <a:ext cx="5086350" cy="623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Провести верификацию работы системы на контрольных выборках и оценить точность рекомендаций каждой из моделей.</a:t>
            </a:r>
            <a:endParaRPr b="0" i="0" sz="1350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22" name="Google Shape;12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966787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9360" y="1649609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4595" y="2401858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9357" y="3136405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9358" y="3981284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2729061"/>
            <a:ext cx="3549550" cy="20228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075" y="2729061"/>
            <a:ext cx="3549699" cy="22666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56525" y="2729061"/>
            <a:ext cx="3549550" cy="202287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4"/>
          <p:cNvSpPr txBox="1"/>
          <p:nvPr/>
        </p:nvSpPr>
        <p:spPr>
          <a:xfrm>
            <a:off x="676275" y="485775"/>
            <a:ext cx="115157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Этапы работы над проектом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485775" y="485775"/>
            <a:ext cx="47625" cy="4857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723900" y="3005286"/>
            <a:ext cx="322696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Подготовительный этап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723900" y="3386286"/>
            <a:ext cx="307330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Выбор темы, поиск релевантного датасета IMDb, анализ существующих аналогов (Кинопоиск, TasteDive) и изучение литературы.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4559200" y="3005286"/>
            <a:ext cx="322712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Основной этап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4559200" y="3386286"/>
            <a:ext cx="3073449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Программная реализация предобработки данных, векторизация признаков, построение трех моделей KNN и создание алгоритма ранжирования.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8394650" y="3005286"/>
            <a:ext cx="322696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Финальный этап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8394650" y="3386286"/>
            <a:ext cx="307330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Тестирование системы на контрольных сценариях (на примере фильма «The Matrix»), отладка кода и оформление проектной документации.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686970"/>
            <a:ext cx="11220450" cy="52953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5"/>
          <p:cNvSpPr txBox="1"/>
          <p:nvPr/>
        </p:nvSpPr>
        <p:spPr>
          <a:xfrm>
            <a:off x="676275" y="154632"/>
            <a:ext cx="115157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Анализ аналоговых решений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485775" y="154632"/>
            <a:ext cx="47625" cy="4857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1" name="Google Shape;151;p5"/>
          <p:cNvGraphicFramePr/>
          <p:nvPr/>
        </p:nvGraphicFramePr>
        <p:xfrm>
          <a:off x="666750" y="9561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{2F10DF6A-A7F4-4E26-9201-E8BA268FE684}</a:tableStyleId>
              </a:tblPr>
              <a:tblGrid>
                <a:gridCol w="1680125"/>
                <a:gridCol w="1680125"/>
                <a:gridCol w="2811950"/>
                <a:gridCol w="2452700"/>
              </a:tblGrid>
              <a:tr h="2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Проект / Автор</a:t>
                      </a:r>
                      <a:endParaRPr sz="1400" u="none" cap="none" strike="noStrike"/>
                    </a:p>
                  </a:txBody>
                  <a:tcPr marT="25400" marB="25400" marR="63500" marL="63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Идея проекта</a:t>
                      </a:r>
                      <a:endParaRPr sz="1400" u="none" cap="none" strike="noStrike"/>
                    </a:p>
                  </a:txBody>
                  <a:tcPr marT="25400" marB="25400" marR="63500" marL="63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Сильные стороны</a:t>
                      </a:r>
                      <a:endParaRPr sz="1400" u="none" cap="none" strike="noStrike"/>
                    </a:p>
                  </a:txBody>
                  <a:tcPr marT="25400" marB="25400" marR="63500" marL="63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Слабые стороны</a:t>
                      </a:r>
                      <a:endParaRPr sz="1400" u="none" cap="none" strike="noStrike"/>
                    </a:p>
                  </a:txBody>
                  <a:tcPr marT="25400" marB="25400" marR="63500" marL="63500" anchor="ctr"/>
                </a:tc>
              </a:tr>
              <a:tr h="137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«Кинопоиск»</a:t>
                      </a:r>
                      <a:br>
                        <a:rPr lang="en-US" sz="1800" u="none" cap="none" strike="noStrike"/>
                      </a:br>
                      <a:r>
                        <a:rPr lang="en-US" sz="1350" u="none" cap="none" strike="noStrike"/>
                        <a:t>(Яндекс)</a:t>
                      </a:r>
                      <a:endParaRPr sz="1400" u="none" cap="none" strike="noStrike"/>
                    </a:p>
                  </a:txBody>
                  <a:tcPr marT="25400" marB="25400" marR="63500" marL="63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Гибридная модель: коллаборативная фильтрация + контентный анализ.</a:t>
                      </a:r>
                      <a:endParaRPr sz="1400" u="none" cap="none" strike="noStrike"/>
                    </a:p>
                  </a:txBody>
                  <a:tcPr marT="25400" marB="25400" marR="63500" marL="63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Огромная база данных, удобный интерфейс экосистемы.</a:t>
                      </a:r>
                      <a:endParaRPr sz="1400" u="none" cap="none" strike="noStrike"/>
                    </a:p>
                  </a:txBody>
                  <a:tcPr marT="25400" marB="25400" marR="63500" marL="63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>
                          <a:solidFill>
                            <a:srgbClr val="953734"/>
                          </a:solidFill>
                        </a:rPr>
                        <a:t>Приоритет платного контента в выдаче.</a:t>
                      </a:r>
                      <a:endParaRPr b="0" i="0" sz="1350" u="none" cap="none" strike="noStrike">
                        <a:solidFill>
                          <a:srgbClr val="95373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/>
                </a:tc>
              </a:tr>
              <a:tr h="137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Letterboxd</a:t>
                      </a:r>
                      <a:br>
                        <a:rPr lang="en-US" sz="1800" u="none" cap="none" strike="noStrike"/>
                      </a:br>
                      <a:r>
                        <a:rPr lang="en-US" sz="1350" u="none" cap="none" strike="noStrike"/>
                        <a:t>(Соц. сеть)</a:t>
                      </a:r>
                      <a:endParaRPr sz="1400" u="none" cap="none" strike="noStrike"/>
                    </a:p>
                  </a:txBody>
                  <a:tcPr marT="25400" marB="25400" marR="63500" marL="63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Рекомендации на основе списков пользователей и соц. графа.</a:t>
                      </a:r>
                      <a:endParaRPr sz="1400" u="none" cap="none" strike="noStrike"/>
                    </a:p>
                  </a:txBody>
                  <a:tcPr marT="25400" marB="25400" marR="63500" marL="63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Высокая вовлеченность сообщества, живые отзывы.</a:t>
                      </a:r>
                      <a:endParaRPr sz="1400" u="none" cap="none" strike="noStrike"/>
                    </a:p>
                  </a:txBody>
                  <a:tcPr marT="25400" marB="25400" marR="63500" marL="63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>
                          <a:solidFill>
                            <a:srgbClr val="953734"/>
                          </a:solidFill>
                        </a:rPr>
                        <a:t>Зависимость от вкусов конкретных пользователей</a:t>
                      </a:r>
                      <a:r>
                        <a:rPr lang="en-US" sz="1350" u="none" cap="none" strike="noStrike"/>
                        <a:t>.</a:t>
                      </a:r>
                      <a:endParaRPr b="0" i="0" sz="1350" u="none" cap="none" strike="noStrike">
                        <a:solidFill>
                          <a:srgbClr val="EF444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/>
                </a:tc>
              </a:tr>
              <a:tr h="137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TasteDive</a:t>
                      </a:r>
                      <a:br>
                        <a:rPr lang="en-US" sz="1800" u="none" cap="none" strike="noStrike"/>
                      </a:br>
                      <a:r>
                        <a:rPr lang="en-US" sz="1350" u="none" cap="none" strike="noStrike"/>
                        <a:t>(Сервис)</a:t>
                      </a:r>
                      <a:endParaRPr sz="1400" u="none" cap="none" strike="noStrike"/>
                    </a:p>
                  </a:txBody>
                  <a:tcPr marT="25400" marB="25400" marR="63500" marL="63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Поиск схожих элементов (More like this).</a:t>
                      </a:r>
                      <a:endParaRPr sz="1400" u="none" cap="none" strike="noStrike"/>
                    </a:p>
                  </a:txBody>
                  <a:tcPr marT="25400" marB="25400" marR="63500" marL="63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Поиск на основе близости характеристик контента.</a:t>
                      </a:r>
                      <a:endParaRPr sz="1400" u="none" cap="none" strike="noStrike"/>
                    </a:p>
                  </a:txBody>
                  <a:tcPr marT="25400" marB="25400" marR="63500" marL="63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>
                          <a:solidFill>
                            <a:srgbClr val="953734"/>
                          </a:solidFill>
                        </a:rPr>
                        <a:t>Нельзя влиять на параметры подбора.</a:t>
                      </a:r>
                      <a:endParaRPr b="0" i="0" sz="1350" u="none" cap="none" strike="noStrike">
                        <a:solidFill>
                          <a:srgbClr val="95373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/>
                </a:tc>
              </a:tr>
            </a:tbl>
          </a:graphicData>
        </a:graphic>
      </p:graphicFrame>
      <p:sp>
        <p:nvSpPr>
          <p:cNvPr id="152" name="Google Shape;152;p5"/>
          <p:cNvSpPr txBox="1"/>
          <p:nvPr/>
        </p:nvSpPr>
        <p:spPr>
          <a:xfrm>
            <a:off x="666750" y="5829845"/>
            <a:ext cx="108966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Итог: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Разрабатываемый проект восполняет пробел, предлагая прозрачный инструмент на базе KNN, свободный от рекламных предпочтений.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790700"/>
            <a:ext cx="5419725" cy="1000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981325"/>
            <a:ext cx="5419725" cy="10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6"/>
          <p:cNvSpPr txBox="1"/>
          <p:nvPr/>
        </p:nvSpPr>
        <p:spPr>
          <a:xfrm>
            <a:off x="676275" y="485775"/>
            <a:ext cx="115157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Ресурсы проекта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485775" y="485775"/>
            <a:ext cx="47625" cy="4857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2" name="Google Shape;162;p6"/>
          <p:cNvGraphicFramePr/>
          <p:nvPr/>
        </p:nvGraphicFramePr>
        <p:xfrm>
          <a:off x="214789" y="14049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{9106C17B-7FB5-43C3-9ED7-E08E2A2C6245}</a:tableStyleId>
              </a:tblPr>
              <a:tblGrid>
                <a:gridCol w="2009775"/>
                <a:gridCol w="3390900"/>
              </a:tblGrid>
              <a:tr h="60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lang="en-US" sz="1350" u="none" cap="none" strike="noStrike">
                          <a:solidFill>
                            <a:srgbClr val="FFFFFF"/>
                          </a:solidFill>
                        </a:rPr>
                        <a:t>Вид ресурса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lang="en-US" sz="1350" u="none" cap="none" strike="noStrike">
                          <a:solidFill>
                            <a:srgbClr val="FFFFFF"/>
                          </a:solidFill>
                        </a:rPr>
                        <a:t>Описание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6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CBD5E1"/>
                          </a:solidFill>
                        </a:rPr>
                        <a:t>Материальные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lang="en-US" sz="1350" u="none" cap="none" strike="noStrike">
                          <a:solidFill>
                            <a:srgbClr val="CBD5E1"/>
                          </a:solidFill>
                        </a:rPr>
                        <a:t>ПК/ноутбук, стабильный интернет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6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CBD5E1"/>
                          </a:solidFill>
                        </a:rPr>
                        <a:t>Финансовые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lang="en-US" sz="1350" u="none" cap="none" strike="noStrike">
                          <a:solidFill>
                            <a:srgbClr val="CBD5E1"/>
                          </a:solidFill>
                        </a:rPr>
                        <a:t>Отсутствуют (Open Source)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6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CBD5E1"/>
                          </a:solidFill>
                        </a:rPr>
                        <a:t>Трудовые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lang="en-US" sz="1350" u="none" cap="none" strike="noStrike">
                          <a:solidFill>
                            <a:srgbClr val="CBD5E1"/>
                          </a:solidFill>
                        </a:rPr>
                        <a:t>Автор проекта, научный руководитель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6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CBD5E1"/>
                          </a:solidFill>
                        </a:rPr>
                        <a:t>Информационные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lang="en-US" sz="1350" u="none" cap="none" strike="noStrike">
                          <a:solidFill>
                            <a:srgbClr val="CBD5E1"/>
                          </a:solidFill>
                        </a:rPr>
                        <a:t>Датасет IMDb, документация Scikit-learn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6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CBD5E1"/>
                          </a:solidFill>
                        </a:rPr>
                        <a:t>Административные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lang="en-US" sz="1350" u="none" cap="none" strike="noStrike">
                          <a:solidFill>
                            <a:srgbClr val="CBD5E1"/>
                          </a:solidFill>
                        </a:rPr>
                        <a:t>Google Colab, Python 3.10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163" name="Google Shape;163;p6"/>
          <p:cNvSpPr txBox="1"/>
          <p:nvPr/>
        </p:nvSpPr>
        <p:spPr>
          <a:xfrm>
            <a:off x="6286500" y="1352550"/>
            <a:ext cx="569071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CA5A5"/>
                </a:solidFill>
                <a:latin typeface="Inter"/>
                <a:ea typeface="Inter"/>
                <a:cs typeface="Inter"/>
                <a:sym typeface="Inter"/>
              </a:rPr>
              <a:t>Возможные риски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64" name="Google Shape;16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371600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6"/>
          <p:cNvSpPr txBox="1"/>
          <p:nvPr/>
        </p:nvSpPr>
        <p:spPr>
          <a:xfrm>
            <a:off x="6496050" y="2021363"/>
            <a:ext cx="5000625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Число года искажает дистанцию. </a:t>
            </a: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Решение:</a:t>
            </a:r>
            <a:r>
              <a:rPr b="0" i="0" lang="en-US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Применение StandardScaler.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 txBox="1"/>
          <p:nvPr/>
        </p:nvSpPr>
        <p:spPr>
          <a:xfrm>
            <a:off x="6434137" y="3113653"/>
            <a:ext cx="500062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Опечатки вызывают сбой. </a:t>
            </a: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Решение:</a:t>
            </a:r>
            <a:r>
              <a:rPr b="0" i="0" lang="en-US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Поиск по подстроке и обработка исключений.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7"/>
          <p:cNvSpPr txBox="1"/>
          <p:nvPr/>
        </p:nvSpPr>
        <p:spPr>
          <a:xfrm>
            <a:off x="771525" y="952648"/>
            <a:ext cx="4990623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1. Подготовка данных и Feature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581025" y="952648"/>
            <a:ext cx="47625" cy="9715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866775" y="2457598"/>
            <a:ext cx="4657725" cy="6647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Импорт и очистка: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Загружен датасет IMDb (5562 фильма). Проверены на пропуски колонкию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7"/>
          <p:cNvSpPr txBox="1"/>
          <p:nvPr/>
        </p:nvSpPr>
        <p:spPr>
          <a:xfrm>
            <a:off x="866775" y="3423344"/>
            <a:ext cx="46577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Извлечение признаков: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Из строки названия выделен чистый год выпуска.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"/>
          <p:cNvSpPr txBox="1"/>
          <p:nvPr/>
        </p:nvSpPr>
        <p:spPr>
          <a:xfrm>
            <a:off x="866775" y="4114800"/>
            <a:ext cx="46577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One-Hot Encoding: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Категориальные текстовые данные (жанры) преобразованы в бинарную матрицу (158 признаков) для машинного чтения.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7"/>
          <p:cNvSpPr txBox="1"/>
          <p:nvPr/>
        </p:nvSpPr>
        <p:spPr>
          <a:xfrm>
            <a:off x="866775" y="5080545"/>
            <a:ext cx="46577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Масштабирование: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Применен </a:t>
            </a:r>
            <a:r>
              <a:rPr b="0" i="0" lang="en-US" sz="1350" u="none" cap="none" strike="noStrike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rPr>
              <a:t>StandardScaler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для выравнивания весов года и жанров.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8" name="Google Shape;17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62" y="2476960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62" y="3428996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62" y="4114811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46" y="5080560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62148" y="952648"/>
            <a:ext cx="3324689" cy="1495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5475730"/>
            <a:ext cx="12192000" cy="13175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62" y="3448346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3203227"/>
            <a:ext cx="3549699" cy="26897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224" y="3203227"/>
            <a:ext cx="3549699" cy="26897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56674" y="3203227"/>
            <a:ext cx="3549699" cy="268977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8"/>
          <p:cNvSpPr txBox="1"/>
          <p:nvPr/>
        </p:nvSpPr>
        <p:spPr>
          <a:xfrm>
            <a:off x="676275" y="485775"/>
            <a:ext cx="115157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2. Обучение моделей машинного обучения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485775" y="485775"/>
            <a:ext cx="47625" cy="4857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 txBox="1"/>
          <p:nvPr/>
        </p:nvSpPr>
        <p:spPr>
          <a:xfrm>
            <a:off x="485775" y="2022127"/>
            <a:ext cx="1122045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Использован алгоритм обучения без учителя —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k-Nearest Neighbors (KNN)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Реализована параллельная работа трех метрик (k=20):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8"/>
          <p:cNvSpPr txBox="1"/>
          <p:nvPr/>
        </p:nvSpPr>
        <p:spPr>
          <a:xfrm>
            <a:off x="707071" y="4155727"/>
            <a:ext cx="310710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Cosine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8"/>
          <p:cNvSpPr txBox="1"/>
          <p:nvPr/>
        </p:nvSpPr>
        <p:spPr>
          <a:xfrm>
            <a:off x="781050" y="4603402"/>
            <a:ext cx="295914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Косинусное сходство. Оценивает угол между векторами (приоритет жанровой структуры).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8"/>
          <p:cNvSpPr txBox="1"/>
          <p:nvPr/>
        </p:nvSpPr>
        <p:spPr>
          <a:xfrm>
            <a:off x="4542520" y="4155727"/>
            <a:ext cx="310710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Euclidean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8"/>
          <p:cNvSpPr txBox="1"/>
          <p:nvPr/>
        </p:nvSpPr>
        <p:spPr>
          <a:xfrm>
            <a:off x="4616499" y="4603402"/>
            <a:ext cx="295914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Евклидово расстояние. Измеряет прямое геометрическое расстояние между точками.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8"/>
          <p:cNvSpPr txBox="1"/>
          <p:nvPr/>
        </p:nvSpPr>
        <p:spPr>
          <a:xfrm>
            <a:off x="8377970" y="4155727"/>
            <a:ext cx="310710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Manhattan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8"/>
          <p:cNvSpPr txBox="1"/>
          <p:nvPr/>
        </p:nvSpPr>
        <p:spPr>
          <a:xfrm>
            <a:off x="8451949" y="4603402"/>
            <a:ext cx="295914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Манхэттенское расстояние. Сумма разностей координат, более устойчива к выбросам.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02" name="Google Shape;202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70050" y="353660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5500" y="353660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93324" y="3536602"/>
            <a:ext cx="4762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9"/>
          <p:cNvSpPr txBox="1"/>
          <p:nvPr/>
        </p:nvSpPr>
        <p:spPr>
          <a:xfrm>
            <a:off x="676275" y="485775"/>
            <a:ext cx="115157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3. Логика работы системы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485775" y="485775"/>
            <a:ext cx="47625" cy="4857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2" name="Google Shape;21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34137" y="485775"/>
            <a:ext cx="11906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9"/>
          <p:cNvSpPr txBox="1"/>
          <p:nvPr/>
        </p:nvSpPr>
        <p:spPr>
          <a:xfrm>
            <a:off x="771525" y="2205186"/>
            <a:ext cx="50863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Запрос: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Пользователь вводит название (например, «Batman»).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9"/>
          <p:cNvSpPr txBox="1"/>
          <p:nvPr/>
        </p:nvSpPr>
        <p:spPr>
          <a:xfrm>
            <a:off x="771525" y="2896641"/>
            <a:ext cx="5086350" cy="6647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Система находит вектор фильма и вычисляет дистанцию до всех остальных объектов базы.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9"/>
          <p:cNvSpPr txBox="1"/>
          <p:nvPr/>
        </p:nvSpPr>
        <p:spPr>
          <a:xfrm>
            <a:off x="771525" y="3588097"/>
            <a:ext cx="5086350" cy="6647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Отбираются 20 ближайших соседей по минимальной дистанции.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9"/>
          <p:cNvSpPr txBox="1"/>
          <p:nvPr/>
        </p:nvSpPr>
        <p:spPr>
          <a:xfrm>
            <a:off x="771525" y="4279552"/>
            <a:ext cx="5086350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Список сортируется по столбцу </a:t>
            </a:r>
            <a:r>
              <a:rPr b="0" i="0" lang="en-US" sz="1350" u="none" cap="none" strike="noStrike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rPr>
              <a:t>Rating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(от 9.0 к меньшему).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9"/>
          <p:cNvSpPr txBox="1"/>
          <p:nvPr/>
        </p:nvSpPr>
        <p:spPr>
          <a:xfrm>
            <a:off x="771525" y="4771208"/>
            <a:ext cx="5086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Вывод Топ-5 наиболее качественных рекомендаций.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18" name="Google Shape;21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4" y="2234991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86" y="2936674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4" y="3614726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81" y="4292772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87" y="4784668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7" y="1770418"/>
            <a:ext cx="5439534" cy="943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7" y="3157519"/>
            <a:ext cx="5372100" cy="109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1220450" cy="158680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0"/>
          <p:cNvSpPr txBox="1"/>
          <p:nvPr/>
        </p:nvSpPr>
        <p:spPr>
          <a:xfrm>
            <a:off x="531495" y="517177"/>
            <a:ext cx="10981372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Сравнение работы моделей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7900" y="2103982"/>
            <a:ext cx="3429479" cy="3019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88362" y="2103982"/>
            <a:ext cx="3667637" cy="3019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44875" y="2103982"/>
            <a:ext cx="3867690" cy="2972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1"/>
          <p:cNvSpPr txBox="1"/>
          <p:nvPr/>
        </p:nvSpPr>
        <p:spPr>
          <a:xfrm>
            <a:off x="771525" y="581025"/>
            <a:ext cx="4990623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Анализ результатов и выбор модели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581025" y="581025"/>
            <a:ext cx="47625" cy="9715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 txBox="1"/>
          <p:nvPr/>
        </p:nvSpPr>
        <p:spPr>
          <a:xfrm>
            <a:off x="581025" y="2105025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Сравнительный анализ (на примере фильма «The Matrix»):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42" name="Google Shape;24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76975" y="2105025"/>
            <a:ext cx="4943475" cy="110862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1"/>
          <p:cNvSpPr txBox="1"/>
          <p:nvPr/>
        </p:nvSpPr>
        <p:spPr>
          <a:xfrm>
            <a:off x="752475" y="2996505"/>
            <a:ext cx="4772025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Модель Cosine: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Показала наилучшую точность в определении жанровой «атмосферы» (Sci-Fi/Action). В топе: </a:t>
            </a:r>
            <a:r>
              <a:rPr b="0" i="1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Terminator 2, The Terminator, Matrix Reloaded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Дистанция минимальна (0.04).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1"/>
          <p:cNvSpPr txBox="1"/>
          <p:nvPr/>
        </p:nvSpPr>
        <p:spPr>
          <a:xfrm>
            <a:off x="752475" y="4627066"/>
            <a:ext cx="47720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Euclidean / Manhattan: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Выдача схожа, но дистанция выше. В рекомендации попадают смежные жанры (триллеры), что смещает фокус.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2"/>
          <p:cNvSpPr txBox="1"/>
          <p:nvPr/>
        </p:nvSpPr>
        <p:spPr>
          <a:xfrm>
            <a:off x="676275" y="485775"/>
            <a:ext cx="115157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Выводы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485775" y="485775"/>
            <a:ext cx="47625" cy="4857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 txBox="1"/>
          <p:nvPr/>
        </p:nvSpPr>
        <p:spPr>
          <a:xfrm>
            <a:off x="485775" y="2468909"/>
            <a:ext cx="564070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Итоги работы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2"/>
          <p:cNvSpPr txBox="1"/>
          <p:nvPr/>
        </p:nvSpPr>
        <p:spPr>
          <a:xfrm>
            <a:off x="6334125" y="2880419"/>
            <a:ext cx="564070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Перспективы развития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2"/>
          <p:cNvSpPr txBox="1"/>
          <p:nvPr/>
        </p:nvSpPr>
        <p:spPr>
          <a:xfrm>
            <a:off x="771525" y="2897534"/>
            <a:ext cx="50863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Цель достигнута: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Разработана и успешно протестирована интеллектуальная система рекомендации фильмов.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2"/>
          <p:cNvSpPr txBox="1"/>
          <p:nvPr/>
        </p:nvSpPr>
        <p:spPr>
          <a:xfrm>
            <a:off x="771525" y="3588990"/>
            <a:ext cx="50863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Продукт создан: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Написан скрипт на Python (KNN + Рейтинг).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2"/>
          <p:cNvSpPr txBox="1"/>
          <p:nvPr/>
        </p:nvSpPr>
        <p:spPr>
          <a:xfrm>
            <a:off x="771525" y="4280445"/>
            <a:ext cx="50863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Результативность: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Объективный подбор контента. Высокая релевантность выдачи (точность попадания в жанр).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2"/>
          <p:cNvSpPr txBox="1"/>
          <p:nvPr/>
        </p:nvSpPr>
        <p:spPr>
          <a:xfrm>
            <a:off x="6619875" y="3309044"/>
            <a:ext cx="5086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Создание интерактивного Telegram-бота.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2"/>
          <p:cNvSpPr txBox="1"/>
          <p:nvPr/>
        </p:nvSpPr>
        <p:spPr>
          <a:xfrm>
            <a:off x="6619875" y="3726209"/>
            <a:ext cx="5086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Добавление премьер 2024–2025 годов.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2"/>
          <p:cNvSpPr txBox="1"/>
          <p:nvPr/>
        </p:nvSpPr>
        <p:spPr>
          <a:xfrm>
            <a:off x="6619875" y="4143300"/>
            <a:ext cx="5086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Анализ текстовых синопсисов для семантического поиска.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60" name="Google Shape;26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80" y="2928049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66" y="3610593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82" y="4293160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3775" y="3294976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3769" y="3726537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3775" y="4158090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0" name="Google Shape;27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-7112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05760" y="3790225"/>
            <a:ext cx="5810883" cy="744883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3"/>
          <p:cNvSpPr txBox="1"/>
          <p:nvPr/>
        </p:nvSpPr>
        <p:spPr>
          <a:xfrm>
            <a:off x="242887" y="333523"/>
            <a:ext cx="11706225" cy="7109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Смотрите хорошее кино!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3"/>
          <p:cNvSpPr txBox="1"/>
          <p:nvPr/>
        </p:nvSpPr>
        <p:spPr>
          <a:xfrm>
            <a:off x="200976" y="1122623"/>
            <a:ext cx="11220450" cy="3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Ссылка на </a:t>
            </a:r>
            <a:r>
              <a:rPr b="0" i="0" lang="en-US" sz="13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github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3"/>
          <p:cNvSpPr txBox="1"/>
          <p:nvPr/>
        </p:nvSpPr>
        <p:spPr>
          <a:xfrm>
            <a:off x="3097053" y="3896472"/>
            <a:ext cx="5619590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1925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https://github.com/platonkrasnobryz6323-blip/film-selection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75" name="Google Shape;27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04128" y="3896465"/>
            <a:ext cx="316707" cy="331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30151" y="1847729"/>
            <a:ext cx="1562100" cy="15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1" name="Google Shape;28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9520" y="752456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4"/>
          <p:cNvSpPr txBox="1"/>
          <p:nvPr/>
        </p:nvSpPr>
        <p:spPr>
          <a:xfrm>
            <a:off x="676275" y="485775"/>
            <a:ext cx="115157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Источники информации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485775" y="485775"/>
            <a:ext cx="47625" cy="4857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4"/>
          <p:cNvSpPr txBox="1"/>
          <p:nvPr/>
        </p:nvSpPr>
        <p:spPr>
          <a:xfrm>
            <a:off x="509587" y="2220337"/>
            <a:ext cx="11220450" cy="283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Pandas Documentation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[Электронный ресурс] // URL: https://pandas.pydata.org/docs/ (12.10.2025).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4"/>
          <p:cNvSpPr/>
          <p:nvPr/>
        </p:nvSpPr>
        <p:spPr>
          <a:xfrm>
            <a:off x="485775" y="2568029"/>
            <a:ext cx="112204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4"/>
          <p:cNvSpPr txBox="1"/>
          <p:nvPr/>
        </p:nvSpPr>
        <p:spPr>
          <a:xfrm>
            <a:off x="485774" y="2582029"/>
            <a:ext cx="11220450" cy="55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Scikit-learn: Nearest Neighbors algorithm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[Электронный ресурс] // URL: https://scikit-learn.org/stable/modules/neighbors.html (18.11.2025).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4"/>
          <p:cNvSpPr txBox="1"/>
          <p:nvPr/>
        </p:nvSpPr>
        <p:spPr>
          <a:xfrm>
            <a:off x="485774" y="3997505"/>
            <a:ext cx="11220450" cy="6647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IMDb Movie Dataset for Machine Learning https://www.kaggle.com/datasets/rakkesharv/imdb-5000-movies-multiple-genres-dataset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[Электронный ресурс] (05.10.2025).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4"/>
          <p:cNvSpPr txBox="1"/>
          <p:nvPr/>
        </p:nvSpPr>
        <p:spPr>
          <a:xfrm>
            <a:off x="485774" y="3285048"/>
            <a:ext cx="11220450" cy="55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StandardScaler Documentation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[Электронный ресурс] // URL: https://scikit-learn.org/stable/modules/generated/sklearn.preprocessing.StandardScaler.html (07.11.2025).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4"/>
          <p:cNvSpPr txBox="1"/>
          <p:nvPr/>
        </p:nvSpPr>
        <p:spPr>
          <a:xfrm>
            <a:off x="485774" y="4790356"/>
            <a:ext cx="112204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One-Hot Encoding in Python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[Электронный ресурс] // URL: https://pandas.pydata.org/docs/reference/api/pandas.get_dummies.html (02.11.2025).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90" name="Google Shape;29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4" y="2220322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4" y="2568031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4" y="3274475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3988087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3" y="4790350"/>
            <a:ext cx="2190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Platon</dc:creator>
</cp:coreProperties>
</file>